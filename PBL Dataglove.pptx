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62" r:id="rId6"/>
    <p:sldId id="261" r:id="rId7"/>
    <p:sldId id="267"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85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bioinf.jku.at/publications/older/2604.pdf" TargetMode="External"/><Relationship Id="rId2" Type="http://schemas.openxmlformats.org/officeDocument/2006/relationships/hyperlink" Target="https://ieeexplore.ieee.org/document/387598" TargetMode="External"/><Relationship Id="rId1" Type="http://schemas.openxmlformats.org/officeDocument/2006/relationships/slideLayout" Target="../slideLayouts/slideLayout2.xml"/><Relationship Id="rId4" Type="http://schemas.openxmlformats.org/officeDocument/2006/relationships/hyperlink" Target="https://arxiv.org/abs/1604.0888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lstStyle/>
          <a:p>
            <a:r>
              <a:rPr lang="en-IN" dirty="0"/>
              <a:t>&lt;Cyber Glove&gt;</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&lt;Bhanu Agrawal&gt;</a:t>
            </a:r>
          </a:p>
          <a:p>
            <a:r>
              <a:rPr lang="en-IN" dirty="0"/>
              <a:t>&lt;23FE10CSE00083</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&lt;Amit Kumar Gupta&gt;</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normAutofit fontScale="85000" lnSpcReduction="20000"/>
          </a:bodyPr>
          <a:lstStyle/>
          <a:p>
            <a:pPr marL="0" indent="0">
              <a:buNone/>
            </a:pPr>
            <a:r>
              <a:rPr lang="en-IN" dirty="0"/>
              <a:t>Traditional input devices and vision-based gesture systems are costly, contact-dependent, and inefficient in dynamic environments. There is a need for a low-cost, touchless, and real-time gesture recognition system that enables natural human–computer interaction using minimal hardware and intelligent processing.</a:t>
            </a:r>
          </a:p>
          <a:p>
            <a:pPr marL="0" indent="0">
              <a:buNone/>
            </a:pPr>
            <a:r>
              <a:rPr lang="en-US" dirty="0"/>
              <a:t>Traditional human–computer interaction methods rely heavily on physical input devices such as keyboards, mice, and touchscreens, which limit flexibility, mobility, and accessibility. Existing gesture recognition systems, while offering touchless control, often depend on expensive cameras or multiple sensors, making them complex, power-intensive, and unsuitable for real-time embedded applications . The </a:t>
            </a:r>
            <a:r>
              <a:rPr lang="en-US" dirty="0" err="1"/>
              <a:t>DataGlove</a:t>
            </a:r>
            <a:r>
              <a:rPr lang="en-US" dirty="0"/>
              <a:t> project aims to address these limitations by developing a low-cost, intelligent wearable glove that uses MPU6050 motion sensing and Hall-effect sensors for hybrid gesture detection. By applying an LSTM-based AI model, the system can accurately classify hand gestures and enable touchless, real-time interaction for applications such as virtual keyboards, assistive technologies, and IoT control systems.</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67E9-9E9A-605E-6E93-37A585A32F8C}"/>
              </a:ext>
            </a:extLst>
          </p:cNvPr>
          <p:cNvSpPr>
            <a:spLocks noGrp="1"/>
          </p:cNvSpPr>
          <p:nvPr>
            <p:ph type="title"/>
          </p:nvPr>
        </p:nvSpPr>
        <p:spPr/>
        <p:txBody>
          <a:bodyPr/>
          <a:lstStyle/>
          <a:p>
            <a:r>
              <a:rPr lang="en-IN" dirty="0"/>
              <a:t>Application of AI approaches</a:t>
            </a:r>
          </a:p>
        </p:txBody>
      </p:sp>
      <p:sp>
        <p:nvSpPr>
          <p:cNvPr id="3" name="Content Placeholder 2">
            <a:extLst>
              <a:ext uri="{FF2B5EF4-FFF2-40B4-BE49-F238E27FC236}">
                <a16:creationId xmlns:a16="http://schemas.microsoft.com/office/drawing/2014/main" id="{E9F41DBC-AE91-F917-3AE8-441233A2B585}"/>
              </a:ext>
            </a:extLst>
          </p:cNvPr>
          <p:cNvSpPr>
            <a:spLocks noGrp="1"/>
          </p:cNvSpPr>
          <p:nvPr>
            <p:ph idx="1"/>
          </p:nvPr>
        </p:nvSpPr>
        <p:spPr/>
        <p:txBody>
          <a:bodyPr/>
          <a:lstStyle/>
          <a:p>
            <a:pPr marL="0" indent="0">
              <a:buNone/>
            </a:pPr>
            <a:r>
              <a:rPr lang="en-US" dirty="0"/>
              <a:t>1. AR/VR Control</a:t>
            </a:r>
          </a:p>
          <a:p>
            <a:pPr marL="0" indent="0">
              <a:buNone/>
            </a:pPr>
            <a:r>
              <a:rPr lang="en-US" dirty="0"/>
              <a:t>2. Keyless Keyboard</a:t>
            </a:r>
          </a:p>
          <a:p>
            <a:pPr marL="0" indent="0">
              <a:buNone/>
            </a:pPr>
            <a:r>
              <a:rPr lang="en-US" dirty="0"/>
              <a:t>3. Assistive Technology for Disabled people</a:t>
            </a:r>
          </a:p>
          <a:p>
            <a:pPr marL="0" indent="0">
              <a:buNone/>
            </a:pPr>
            <a:r>
              <a:rPr lang="en-US" dirty="0"/>
              <a:t>4. IoT &amp; Smart Device Control</a:t>
            </a:r>
          </a:p>
          <a:p>
            <a:pPr marL="0" indent="0">
              <a:buNone/>
            </a:pPr>
            <a:r>
              <a:rPr lang="en-US" dirty="0"/>
              <a:t>5. Human–Robot Interaction</a:t>
            </a:r>
          </a:p>
          <a:p>
            <a:pPr marL="0" indent="0">
              <a:buNone/>
            </a:pPr>
            <a:r>
              <a:rPr lang="en-US" dirty="0"/>
              <a:t>6. Gaming and Creative Interfaces</a:t>
            </a:r>
          </a:p>
          <a:p>
            <a:endParaRPr lang="en-IN" dirty="0"/>
          </a:p>
        </p:txBody>
      </p:sp>
    </p:spTree>
    <p:extLst>
      <p:ext uri="{BB962C8B-B14F-4D97-AF65-F5344CB8AC3E}">
        <p14:creationId xmlns:p14="http://schemas.microsoft.com/office/powerpoint/2010/main" val="3255982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normAutofit fontScale="92500" lnSpcReduction="10000"/>
          </a:bodyPr>
          <a:lstStyle/>
          <a:p>
            <a:r>
              <a:rPr lang="en-US" dirty="0"/>
              <a:t>The </a:t>
            </a:r>
            <a:r>
              <a:rPr lang="en-US" dirty="0" err="1"/>
              <a:t>CyberGlove</a:t>
            </a:r>
            <a:r>
              <a:rPr lang="en-US" dirty="0"/>
              <a:t> system follows a hybrid sensing and AI-driven methodology. It integrates motion sensing (IMU) and magnetic sensing (Hall-effect) for data acquisition, which is then processed and analyzed through a Long Short-Term Memory (LSTM) model. The workflow includes:</a:t>
            </a:r>
          </a:p>
          <a:p>
            <a:r>
              <a:rPr lang="en-US" dirty="0"/>
              <a:t>Data acquisition using sensors on a glove.</a:t>
            </a:r>
          </a:p>
          <a:p>
            <a:r>
              <a:rPr lang="en-US" dirty="0"/>
              <a:t>Data preprocessing and normalization.</a:t>
            </a:r>
          </a:p>
          <a:p>
            <a:r>
              <a:rPr lang="en-US" dirty="0"/>
              <a:t>Model training using time-series data.</a:t>
            </a:r>
          </a:p>
          <a:p>
            <a:r>
              <a:rPr lang="en-US" dirty="0"/>
              <a:t>Real-time testing and validation on an ESP32 microcontroller.</a:t>
            </a:r>
            <a:br>
              <a:rPr lang="en-US" dirty="0"/>
            </a:br>
            <a:r>
              <a:rPr lang="en-US" dirty="0"/>
              <a:t>This systematic approach ensures accurate, low-latency gesture recognition.</a:t>
            </a:r>
          </a:p>
        </p:txBody>
      </p:sp>
    </p:spTree>
    <p:extLst>
      <p:ext uri="{BB962C8B-B14F-4D97-AF65-F5344CB8AC3E}">
        <p14:creationId xmlns:p14="http://schemas.microsoft.com/office/powerpoint/2010/main" val="3547097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Circuit </a:t>
            </a:r>
            <a:r>
              <a:rPr lang="en-IN" dirty="0" err="1"/>
              <a:t>Dagram</a:t>
            </a:r>
            <a:endParaRPr lang="en-IN" dirty="0"/>
          </a:p>
        </p:txBody>
      </p:sp>
      <p:pic>
        <p:nvPicPr>
          <p:cNvPr id="4" name="drawing">
            <a:extLst>
              <a:ext uri="{FF2B5EF4-FFF2-40B4-BE49-F238E27FC236}">
                <a16:creationId xmlns:a16="http://schemas.microsoft.com/office/drawing/2014/main" id="{E5E5430C-2C55-CB44-9C7F-74EAC23B0830}"/>
              </a:ext>
            </a:extLst>
          </p:cNvPr>
          <p:cNvPicPr>
            <a:picLocks/>
          </p:cNvPicPr>
          <p:nvPr/>
        </p:nvPicPr>
        <p:blipFill>
          <a:blip r:embed="rId2"/>
          <a:stretch>
            <a:fillRect/>
          </a:stretch>
        </p:blipFill>
        <p:spPr>
          <a:xfrm>
            <a:off x="838200" y="1787865"/>
            <a:ext cx="5454445" cy="3088935"/>
          </a:xfrm>
          <a:prstGeom prst="rect">
            <a:avLst/>
          </a:prstGeom>
          <a:noFill/>
          <a:ln>
            <a:noFill/>
            <a:prstDash/>
          </a:ln>
        </p:spPr>
      </p:pic>
      <p:pic>
        <p:nvPicPr>
          <p:cNvPr id="7" name="drawing">
            <a:extLst>
              <a:ext uri="{FF2B5EF4-FFF2-40B4-BE49-F238E27FC236}">
                <a16:creationId xmlns:a16="http://schemas.microsoft.com/office/drawing/2014/main" id="{D0FFD434-4677-34AE-4175-8633E0E6CB97}"/>
              </a:ext>
            </a:extLst>
          </p:cNvPr>
          <p:cNvPicPr/>
          <p:nvPr/>
        </p:nvPicPr>
        <p:blipFill>
          <a:blip r:embed="rId3"/>
          <a:stretch>
            <a:fillRect/>
          </a:stretch>
        </p:blipFill>
        <p:spPr>
          <a:xfrm>
            <a:off x="6410632" y="2011588"/>
            <a:ext cx="5290360" cy="2641488"/>
          </a:xfrm>
          <a:prstGeom prst="rect">
            <a:avLst/>
          </a:prstGeom>
          <a:noFill/>
          <a:ln>
            <a:noFill/>
            <a:prstDash/>
          </a:ln>
        </p:spPr>
      </p:pic>
      <p:sp>
        <p:nvSpPr>
          <p:cNvPr id="8" name="TextBox 7">
            <a:extLst>
              <a:ext uri="{FF2B5EF4-FFF2-40B4-BE49-F238E27FC236}">
                <a16:creationId xmlns:a16="http://schemas.microsoft.com/office/drawing/2014/main" id="{86D89EA7-315D-BC9A-99F7-551B062A81A3}"/>
              </a:ext>
            </a:extLst>
          </p:cNvPr>
          <p:cNvSpPr txBox="1"/>
          <p:nvPr/>
        </p:nvSpPr>
        <p:spPr>
          <a:xfrm>
            <a:off x="7226710" y="4986000"/>
            <a:ext cx="6096000" cy="369332"/>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Visual representation of the DataGlove system</a:t>
            </a:r>
            <a:endParaRPr lang="en-IN" dirty="0"/>
          </a:p>
        </p:txBody>
      </p:sp>
      <p:sp>
        <p:nvSpPr>
          <p:cNvPr id="9" name="TextBox 8">
            <a:extLst>
              <a:ext uri="{FF2B5EF4-FFF2-40B4-BE49-F238E27FC236}">
                <a16:creationId xmlns:a16="http://schemas.microsoft.com/office/drawing/2014/main" id="{4885948F-E5A6-436A-6F3A-E7B7149DA911}"/>
              </a:ext>
            </a:extLst>
          </p:cNvPr>
          <p:cNvSpPr txBox="1"/>
          <p:nvPr/>
        </p:nvSpPr>
        <p:spPr>
          <a:xfrm>
            <a:off x="540774" y="4973977"/>
            <a:ext cx="6096000" cy="646331"/>
          </a:xfrm>
          <a:prstGeom prst="rect">
            <a:avLst/>
          </a:prstGeom>
          <a:noFill/>
        </p:spPr>
        <p:txBody>
          <a:bodyPr wrap="square">
            <a:spAutoFit/>
          </a:bodyPr>
          <a:lstStyle/>
          <a:p>
            <a:pPr algn="ctr">
              <a:spcBef>
                <a:spcPts val="1200"/>
              </a:spcBef>
              <a:spcAft>
                <a:spcPts val="1200"/>
              </a:spcAft>
              <a:buNone/>
            </a:pPr>
            <a:r>
              <a:rPr lang="en-US" sz="1800" b="1"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Circuit diagram of the DataGlove system showing sensor fusion and communication flow.</a:t>
            </a:r>
            <a:endParaRPr lang="en-IN"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1077724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r>
              <a:rPr lang="en-US" dirty="0"/>
              <a:t>Patent (Published)</a:t>
            </a:r>
          </a:p>
          <a:p>
            <a:r>
              <a:rPr lang="en-US" dirty="0"/>
              <a:t>Research Paper (2~3)</a:t>
            </a:r>
          </a:p>
          <a:p>
            <a:pPr lvl="1"/>
            <a:r>
              <a:rPr lang="en-US" dirty="0"/>
              <a:t>Data Set </a:t>
            </a:r>
            <a:r>
              <a:rPr lang="en-US" dirty="0" err="1"/>
              <a:t>Aquasition</a:t>
            </a:r>
            <a:r>
              <a:rPr lang="en-US" dirty="0"/>
              <a:t> and Hardware Tuning</a:t>
            </a:r>
          </a:p>
          <a:p>
            <a:pPr lvl="1"/>
            <a:r>
              <a:rPr lang="en-US" dirty="0"/>
              <a:t>Data pre processing techniques</a:t>
            </a:r>
          </a:p>
          <a:p>
            <a:pPr lvl="1"/>
            <a:r>
              <a:rPr lang="en-US" dirty="0" err="1"/>
              <a:t>Comparitive</a:t>
            </a:r>
            <a:r>
              <a:rPr lang="en-US" dirty="0"/>
              <a:t> study using different techniques</a:t>
            </a:r>
          </a:p>
        </p:txBody>
      </p:sp>
    </p:spTree>
    <p:extLst>
      <p:ext uri="{BB962C8B-B14F-4D97-AF65-F5344CB8AC3E}">
        <p14:creationId xmlns:p14="http://schemas.microsoft.com/office/powerpoint/2010/main" val="2154956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normAutofit fontScale="47500" lnSpcReduction="20000"/>
          </a:bodyPr>
          <a:lstStyle/>
          <a:p>
            <a:r>
              <a:rPr lang="en-IN" b="1" dirty="0"/>
              <a:t>1. Ferraris, F., Grimaldi, U., &amp; Parvis, M. (1995).</a:t>
            </a:r>
            <a:br>
              <a:rPr lang="en-IN" dirty="0"/>
            </a:br>
            <a:r>
              <a:rPr lang="en-IN" dirty="0"/>
              <a:t>“Procedure for effortless in-field calibration of three-axis rate gyros and accelerometers.” </a:t>
            </a:r>
            <a:r>
              <a:rPr lang="en-IN" i="1" dirty="0"/>
              <a:t>IEEE Transactions on Instrumentation and Measurement.</a:t>
            </a:r>
            <a:br>
              <a:rPr lang="en-IN" dirty="0"/>
            </a:br>
            <a:r>
              <a:rPr lang="en-IN" dirty="0">
                <a:hlinkClick r:id="rId2"/>
              </a:rPr>
              <a:t>https://ieeexplore.ieee.org/document/387598</a:t>
            </a:r>
            <a:endParaRPr lang="en-IN" dirty="0"/>
          </a:p>
          <a:p>
            <a:r>
              <a:rPr lang="en-IN" b="1" dirty="0"/>
              <a:t>2. Tedaldi, D., Pretto, A., &amp; </a:t>
            </a:r>
            <a:r>
              <a:rPr lang="en-IN" b="1" dirty="0" err="1"/>
              <a:t>Menegatti</a:t>
            </a:r>
            <a:r>
              <a:rPr lang="en-IN" b="1" dirty="0"/>
              <a:t>, E. (2014).</a:t>
            </a:r>
            <a:br>
              <a:rPr lang="en-IN" dirty="0"/>
            </a:br>
            <a:r>
              <a:rPr lang="en-IN" dirty="0"/>
              <a:t>“A Robust and Easy to Implement Method for IMU Calibration.” </a:t>
            </a:r>
            <a:r>
              <a:rPr lang="en-IN" i="1" dirty="0"/>
              <a:t>IEEE ICRA 2014.</a:t>
            </a:r>
            <a:br>
              <a:rPr lang="en-IN" dirty="0"/>
            </a:br>
            <a:r>
              <a:rPr lang="en-IN" dirty="0"/>
              <a:t>https://arxiv.org/abs/1405.6712</a:t>
            </a:r>
          </a:p>
          <a:p>
            <a:r>
              <a:rPr lang="en-IN" b="1" dirty="0"/>
              <a:t>3. Diebel, J. (2006).</a:t>
            </a:r>
            <a:br>
              <a:rPr lang="en-IN" dirty="0"/>
            </a:br>
            <a:r>
              <a:rPr lang="en-IN" dirty="0"/>
              <a:t>“Representing Attitude: Euler Angles, Unit Quaternions, and Rotation Vectors.”</a:t>
            </a:r>
            <a:br>
              <a:rPr lang="en-IN" dirty="0"/>
            </a:br>
            <a:r>
              <a:rPr lang="en-IN" dirty="0"/>
              <a:t>https://citeseerx.ist.psu.edu/document?repid=rep1&amp;type=pdf&amp;doi=5e1f1b9c5e0cfeef5b1b68e5e2e8f5c03d8d5b0f</a:t>
            </a:r>
          </a:p>
          <a:p>
            <a:r>
              <a:rPr lang="en-IN" b="1" dirty="0"/>
              <a:t>4. Sabatini, A. M. (2006).</a:t>
            </a:r>
            <a:br>
              <a:rPr lang="en-IN" dirty="0"/>
            </a:br>
            <a:r>
              <a:rPr lang="en-IN" dirty="0"/>
              <a:t>“Quaternion-based Extended Kalman Filter for determining orientation by inertial and magnetic sensing.” </a:t>
            </a:r>
            <a:r>
              <a:rPr lang="en-IN" i="1" dirty="0"/>
              <a:t>IEEE Transactions on Biomedical Engineering.</a:t>
            </a:r>
            <a:br>
              <a:rPr lang="en-IN" dirty="0"/>
            </a:br>
            <a:r>
              <a:rPr lang="en-IN" dirty="0"/>
              <a:t>https://ieeexplore.ieee.org/document/1642586</a:t>
            </a:r>
          </a:p>
          <a:p>
            <a:r>
              <a:rPr lang="en-IN" b="1" dirty="0"/>
              <a:t>5. Madgwick, S. O. H. (2010).</a:t>
            </a:r>
            <a:br>
              <a:rPr lang="en-IN" dirty="0"/>
            </a:br>
            <a:r>
              <a:rPr lang="en-IN" dirty="0"/>
              <a:t>“An efficient orientation filter for inertial and inertial/magnetic sensor arrays.”</a:t>
            </a:r>
            <a:br>
              <a:rPr lang="en-IN" dirty="0"/>
            </a:br>
            <a:r>
              <a:rPr lang="en-IN" dirty="0"/>
              <a:t>https://x-io.co.uk/res/doc/madgwick_internal_report.pdf</a:t>
            </a:r>
          </a:p>
          <a:p>
            <a:r>
              <a:rPr lang="en-IN" b="1" dirty="0"/>
              <a:t>6. Hochreiter, S., &amp; </a:t>
            </a:r>
            <a:r>
              <a:rPr lang="en-IN" b="1" dirty="0" err="1"/>
              <a:t>Schmidhuber</a:t>
            </a:r>
            <a:r>
              <a:rPr lang="en-IN" b="1" dirty="0"/>
              <a:t>, J. (1997).</a:t>
            </a:r>
            <a:br>
              <a:rPr lang="en-IN" dirty="0"/>
            </a:br>
            <a:r>
              <a:rPr lang="en-IN" dirty="0"/>
              <a:t>“Long Short-Term Memory.” </a:t>
            </a:r>
            <a:r>
              <a:rPr lang="en-IN" i="1" dirty="0"/>
              <a:t>Neural Computation.</a:t>
            </a:r>
            <a:br>
              <a:rPr lang="en-IN" dirty="0"/>
            </a:br>
            <a:r>
              <a:rPr lang="en-IN" dirty="0">
                <a:hlinkClick r:id="rId3"/>
              </a:rPr>
              <a:t>https://www.bioinf.jku.at/publications/older/2604.pdf</a:t>
            </a:r>
            <a:endParaRPr lang="en-IN" dirty="0"/>
          </a:p>
          <a:p>
            <a:r>
              <a:rPr lang="en-IN" b="1" dirty="0"/>
              <a:t>7. Ordóñez, F. J., &amp; Roggen, D. (2016).</a:t>
            </a:r>
            <a:br>
              <a:rPr lang="en-IN" dirty="0"/>
            </a:br>
            <a:r>
              <a:rPr lang="en-IN" dirty="0"/>
              <a:t>“Deep Convolutional and LSTM Recurrent Neural Networks for Multimodal Wearable Activity Recognition.”</a:t>
            </a:r>
            <a:br>
              <a:rPr lang="en-IN" dirty="0"/>
            </a:br>
            <a:r>
              <a:rPr lang="en-IN" dirty="0">
                <a:hlinkClick r:id="rId4"/>
              </a:rPr>
              <a:t>https://arxiv.org/abs/1604.08880</a:t>
            </a:r>
            <a:endParaRPr lang="en-IN" dirty="0"/>
          </a:p>
        </p:txBody>
      </p:sp>
    </p:spTree>
    <p:extLst>
      <p:ext uri="{BB962C8B-B14F-4D97-AF65-F5344CB8AC3E}">
        <p14:creationId xmlns:p14="http://schemas.microsoft.com/office/powerpoint/2010/main" val="2724917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716</Words>
  <Application>Microsoft Office PowerPoint</Application>
  <PresentationFormat>Widescreen</PresentationFormat>
  <Paragraphs>47</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&lt;Cyber Glove&gt;</vt:lpstr>
      <vt:lpstr>Outline</vt:lpstr>
      <vt:lpstr>Problem Statement</vt:lpstr>
      <vt:lpstr>Application of AI approaches</vt:lpstr>
      <vt:lpstr>Objectives</vt:lpstr>
      <vt:lpstr>Circuit Dagram</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[BTECH-005-2023-24] BHANU AGRAWAL</cp:lastModifiedBy>
  <cp:revision>10</cp:revision>
  <dcterms:created xsi:type="dcterms:W3CDTF">2025-09-29T05:03:41Z</dcterms:created>
  <dcterms:modified xsi:type="dcterms:W3CDTF">2026-02-18T05:24:48Z</dcterms:modified>
</cp:coreProperties>
</file>