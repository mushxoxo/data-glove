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FD48F6-F443-3578-A9C0-B39BFFBA1994}" v="9" dt="2026-03-31T06:18:53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FF"/>
                </a:solidFill>
              </a:defRPr>
            </a:pPr>
            <a:r>
              <a:t>CYBER GLOVE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CCCCCC"/>
                </a:solidFill>
              </a:defRPr>
            </a:pPr>
            <a:r>
              <a:t>Gesture Recognition System</a:t>
            </a:r>
          </a:p>
          <a:p>
            <a:pPr>
              <a:spcAft>
                <a:spcPts val="400"/>
              </a:spcAft>
              <a:defRPr sz="2400">
                <a:solidFill>
                  <a:srgbClr val="CCCCCC"/>
                </a:solidFill>
              </a:defRPr>
            </a:pPr>
            <a:r>
              <a:t>Using LSTM Neural Networks &amp; IMU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999999"/>
                </a:solidFill>
              </a:defRPr>
            </a:pPr>
            <a:r>
              <a:t>A wearable device for real-time hand gesture classification</a:t>
            </a:r>
          </a:p>
        </p:txBody>
      </p:sp>
      <p:pic>
        <p:nvPicPr>
          <p:cNvPr id="5" name="Picture 4" descr="A guitar with wires connected to it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478" y="938111"/>
            <a:ext cx="4053592" cy="2116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With the increasing demand for intuitive human-computer interaction,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traditional input devices limit natural expression and accessibility.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Objectives: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A) Capture real-time motion data (accelerometer + gyroscope) from the glove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B) Process time-series sensor data into structured ML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C) Train LSTM models to classify gestures (alphabets A, B, C, etc.)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D) Convert recognized gestures into usable outputs (text, commands)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Key Challenges: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A) Handling noisy sensor data and ensuring proper calibration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B) Maintaining temporal consistency in gesture recognition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C) Achieving high accuracy with limited training data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D) Ensuring real-time performance on resource-constrained hardware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End Goal: Build a functional Cyber Glove prototype that acts as 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virtual input device, replacing or augmenting traditional interfaces.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Literature Review / 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1. Sensor-Based Sign Language Recognition (MDPI Sensors, 2022)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Smart glove with IMU + flex sensors; BiLSTM achieved 96% accuracy.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2. EWBiLSTM-ATT Model (IEEE Access, 2023)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Expanded Wide-kernel CNN + BiLSTM + Attention mechanism for SLR.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3. CNN-BiLSTM Architecture (PLoS ONE, 2023)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CNN for spatial features, BiLSTM for temporal, Attention for weighting.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4. Para-LSTM-CNN (IEEE Sensors Journal, 2022)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Parallel processing of spatial/temporal features from IMU data.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5. Real-Time Embedded LSTM on STM32 (IEEE ICRA, 2021)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Deployed optimized LSTM on MCU with &lt;50ms latency.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6. Transfer Learning for Sensor Displacement (IEEE, 2023)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Fine-tuning models robust to glove repositioning across users.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7. Kalman Filter + LSTM Fusion (Elsevier, 2022)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</a:defRPr>
            </a:pPr>
            <a:r>
              <a:t>   Complementary filter preprocessing before LSTM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This project presents the design and development of a Cyber Glove — 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wearable gesture recognition system that captures hand motion using an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MPU9250 (currently MPU6050) 9-axis IMU sensor connected to an ESP32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microcontroller.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The sensor outputs 6D time-series data (3-axis accelerometer + 3-axis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gyroscope) at 100 Hz, stored as CSV files where each file represents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one gesture sample (approximately 300 timesteps × 6 features).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We explore 5 LSTM model configurations: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Raw 6-channel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Normalized 6-channel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Madgwick-filtered 4-channel quaternion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Combined 10-channel (raw + quaternion)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Normalized 10-channel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The final system aims to work in real-time: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Capture motion → Preprocess → Predict gesture → Map to keyboard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thodology_flowchart_1774934904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Hardware: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ESP32 HiLetgo WiFi Module (Dual-core Xtensa LX6)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MPU6050 IMU Sensor (upgrading to MPU9250)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49E 30630 Hall Effect Sensors × 5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Magnets × 5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LiPo Battery 3.7V 110mAh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Software: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Python 3.10 + PyTorch 2.x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AHRS library (Madgwick filter)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scikit-learn (metrics &amp; evaluation)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Arduino IDE (ESP32 firmware)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Communication: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Serial / Bluetooth for data transmission</a:t>
            </a:r>
          </a:p>
        </p:txBody>
      </p:sp>
      <p:pic>
        <p:nvPicPr>
          <p:cNvPr id="5" name="Picture 4" descr="Dataglove_sch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ESP32 — Microcontroller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Processor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Dual-core Xtensa LX6, up to 240 MHz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SRAM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520 KB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Flash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4 MB (external)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WiFi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802.11 b/g/n, 2.4 GHz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Bluetooth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v4.2 BR/EDR + BLE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GPIO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36 programmable pins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ADC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12-bit SAR, 18 channels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I2C / SPI / UART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2 / 3 / 3 interfaces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Operating Voltage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2.2V – 3.6V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Temperature Range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-40°C to +125°C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MPU9250 — 9-DoF IMU 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The MPU-9250 is a multi-chip module by InvenSense (TDK) integrating: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3-axis Accelerometer — measures linear acceleration (gravity + motion)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3-axis Gyroscope — measures angular rate of rotation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3-axis Magnetometer (AK8963) — measures magnetic field orientation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Key Features: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16-bit ADC resolution for accel &amp; gyro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14-bit or 16-bit resolution for magnetometer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Programmable full-scale ranges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512-byte FIFO buffer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I2C (up to 400 kHz) and SPI (up to 20 MHz) interfaces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Supply voltage: 2.4V – 3.6V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Note: Current prototype uses MPU6050 (6-DoF); upgrading to MPU9250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will add magnetometer data for improved orientation estimation.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Accelerometer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An accelerometer measures proper acceleration (including gravity).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It detects linear motion and tilt angle of the sensor in 3D space.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In the Cyber Glove, the accelerometer captures the hand's orientation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relative to gravity and any quick translational movements during gestures.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74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Full-Scale Range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AFS_SEL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 (LSB/g)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±2 g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16,384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0.06 mg/LSB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±4 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8,192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0.12 mg/LSB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±8 g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4,096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0.24 mg/LSB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±16 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2,048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0.49 mg/LSB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Gyroscope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A gyroscope measures angular velocity — the rate of rotation around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each axis (roll, pitch, yaw). It captures the rotational dynamics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of hand gestures.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In the Cyber Glove, gyroscope data is critical for distinguishing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gestures that involve wrist twisting or circular hand motions.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74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Full-Scale Range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FS_SEL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 (LSB/°/s)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±250 °/s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131.0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0.0076 °/s/LSB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±500 °/s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65.5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0.0153 °/s/LSB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±1000 °/s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32.8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0.0305 °/s/LSB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±2000 °/s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16.4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0.0610 °/s/LSB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Magnetometer (AK8963)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The AK8963 magnetometer inside the MPU9250 measures the Earth's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magnetic field in 3 axes. Combined with accelerometer and gyroscope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data, it enables absolute heading estimation (compass direction).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This is especially useful for resolving gyroscope drift and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providing drift-free orientation when using sensor fusion algorithms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like the Madgwick or Mahony filter.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Specifications: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Full-Scale Range: ±4800 µT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14-bit mode: 0.6 µT/LSB sensitivity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16-bit mode: 0.15 µT/LSB sensitivity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Output Data Rate: 8 Hz (single) or 100 Hz (continuous)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Self-test function built-in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Note: Our current MPU6050 prototype does not include a magnetometer;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upgrading to MPU9250 will add this capability.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LSTM — Long Short-Term Memory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LSTM is a type of Recurrent Neural Network designed to learn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long-term dependencies in sequential data. It solves the vanishing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gradient problem that affects standard RNNs.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Three gates control information flow: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Forget Gate: decides what to discard from memory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Input Gate: decides what new information to store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Output Gate: decides what to output as prediction</a:t>
            </a:r>
          </a:p>
        </p:txBody>
      </p:sp>
      <p:pic>
        <p:nvPicPr>
          <p:cNvPr id="5" name="Picture 4" descr="lstm_architecture_1774934925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42" y="3430148"/>
            <a:ext cx="6027459" cy="2993627"/>
          </a:xfrm>
          <a:prstGeom prst="rect">
            <a:avLst/>
          </a:prstGeom>
        </p:spPr>
      </p:pic>
      <p:pic>
        <p:nvPicPr>
          <p:cNvPr id="6" name="Picture 5" descr="An Intuitive Explanation of LSTM. Recurrent Neural Networks | by Ottavio  Calzone | Medium">
            <a:extLst>
              <a:ext uri="{FF2B5EF4-FFF2-40B4-BE49-F238E27FC236}">
                <a16:creationId xmlns:a16="http://schemas.microsoft.com/office/drawing/2014/main" id="{4754892B-E076-72AB-531A-310BD6EE9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440" y="3451407"/>
            <a:ext cx="6028606" cy="30280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1: 6 Raw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Raw accelerometer (ax, ay, az) + gyroscope (gx, gy, gz)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No normalization applied.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Input shape: [N, 300, 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E676"/>
                </a:solidFill>
              </a:defRPr>
            </a:pPr>
            <a:r>
              <a:t>Best Accuracy: 95.45%   |   Best F1: 0.9545</a:t>
            </a:r>
          </a:p>
        </p:txBody>
      </p:sp>
      <p:pic>
        <p:nvPicPr>
          <p:cNvPr id="6" name="Picture 5" descr="model_1_6_raw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2: 6 Normalized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Same 6 channels with z-score normalization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(per-feature mean/std from training set).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Input shape: [N, 300, 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E676"/>
                </a:solidFill>
              </a:defRPr>
            </a:pPr>
            <a:r>
              <a:t>Best Accuracy: 86.36%   |   Best F1: 0.8632</a:t>
            </a:r>
          </a:p>
        </p:txBody>
      </p:sp>
      <p:pic>
        <p:nvPicPr>
          <p:cNvPr id="6" name="Picture 5" descr="model_2_6_norm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3: 4 Madgwick Quaternions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Madgwick filter applied to raw IMU data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Outputs quaternion orientation (q0, q1, q2, q3).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Input shape: [N, 300, 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E676"/>
                </a:solidFill>
              </a:defRPr>
            </a:pPr>
            <a:r>
              <a:t>Best Accuracy: 50.00%   |   Best F1: 0.4454</a:t>
            </a:r>
          </a:p>
        </p:txBody>
      </p:sp>
      <p:pic>
        <p:nvPicPr>
          <p:cNvPr id="6" name="Picture 5" descr="model_3_4_madg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4: 10 Raw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Concatenation of 6 raw channels + 4 quaternion channels.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No normalization.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Input shape: [N, 300, 10]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E676"/>
                </a:solidFill>
              </a:defRPr>
            </a:pPr>
            <a:r>
              <a:t>Best Accuracy: 86.36%   |   Best F1: 0.8666</a:t>
            </a:r>
          </a:p>
        </p:txBody>
      </p:sp>
      <p:pic>
        <p:nvPicPr>
          <p:cNvPr id="6" name="Picture 5" descr="model_4_10_raw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5: 10 Normalized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Same 10 channels with z-score normalization.</a:t>
            </a:r>
          </a:p>
          <a:p>
            <a:pPr>
              <a:spcAft>
                <a:spcPts val="400"/>
              </a:spcAft>
              <a:defRPr sz="1200">
                <a:solidFill>
                  <a:srgbClr val="999999"/>
                </a:solidFill>
              </a:defRPr>
            </a:pPr>
            <a:r>
              <a:t>Input shape: [N, 300, 10]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E676"/>
                </a:solidFill>
              </a:defRPr>
            </a:pPr>
            <a:r>
              <a:t>Best Accuracy: 90.91%   |   Best F1: 0.9067</a:t>
            </a:r>
          </a:p>
        </p:txBody>
      </p:sp>
      <p:pic>
        <p:nvPicPr>
          <p:cNvPr id="6" name="Picture 5" descr="model_5_10_norm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Comparison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Input Dim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Norm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Best Acc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Best F1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 Loss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6 Raw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0.9545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0.9545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0.0608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6 Norm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0.8636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0.8632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0.2129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4 Madg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0.4454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1.1144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10 Raw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0.8636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0.8666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0.0631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10 Norm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0.9091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0.9067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</a:defRPr>
                      </a:pPr>
                      <a:r>
                        <a:t>0.0977</a:t>
                      </a:r>
                    </a:p>
                  </a:txBody>
                  <a:tcPr>
                    <a:solidFill>
                      <a:srgbClr val="1A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comparison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85953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Advantages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Advantages: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Low-cost hardware (ESP32 + MPU sensor &lt; $10)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Real-time inference capability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Wireless operation via Bluetooth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Non-vision based — works in any lighting condition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Portable and lightweight design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Extensible gesture vocabulary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Use Cases: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Accessibility — assistive input for motor-impaired users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Sign Language Translation — real-time text conversion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Virtual Reality — natural hand interaction in VR environments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Remote Control — gesture-based device control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Gaming — motion-controlled game input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Industrial — hands-free equipment control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  • Medical Rehabilitation — tracking patient hand recovery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81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[1] InvenSense, "MPU-9250 Product Specification," TDK Corp., Rev 1.1, 2016.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[2] S. Madgwick, "An efficient orientation filter for inertial and inertial/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magnetic measurement units," Report, University of Bristol, 2010.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[3] S. Hochreiter &amp; J. Schmidhuber, "Long Short-Term Memory,"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Neural Computation, vol. 9, no. 8, pp. 1735-1780, 1997.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[4] Espressif Systems, "ESP32 Technical Reference Manual," v5.3, 2024.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[5] MDPI Sensors, "Sensor-Based Sign Language Recognition Using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Bidirectional LSTM Networks," 2022.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[6] IEEE Access, "EWBiLSTM-ATT: CNN + BiLSTM with Attention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for Dynamic Gesture Recognition," 2023.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[7] PLoS ONE, "CNN-BiLSTM Architecture for Wearable Gesture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Recognition," 2023.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[8] IEEE Sensors Journal, "Para-LSTM-CNN: Parallel Spatial-Temporal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</a:defRPr>
            </a:pPr>
            <a:r>
              <a:t>    Feature Extraction for IMU Gesture Data,"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2026-03-31T06:19:58Z</dcterms:modified>
  <cp:category/>
</cp:coreProperties>
</file>